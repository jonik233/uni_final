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embeddedFontLst>
    <p:embeddedFont>
      <p:font typeface="Exo 2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xo2-regular.fntdata"/><Relationship Id="rId25" Type="http://schemas.openxmlformats.org/officeDocument/2006/relationships/slide" Target="slides/slide20.xml"/><Relationship Id="rId28" Type="http://schemas.openxmlformats.org/officeDocument/2006/relationships/font" Target="fonts/Exo2-italic.fntdata"/><Relationship Id="rId27" Type="http://schemas.openxmlformats.org/officeDocument/2006/relationships/font" Target="fonts/Exo2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Exo2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uk-U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36771b08e3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36771b08e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36771b08e3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6771b08e3_0_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6771b08e3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g336771b08e3_0_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36771b08e3_0_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36771b08e3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g336771b08e3_0_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36771b08e3_0_4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36771b08e3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36771b08e3_0_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6771b08e3_0_5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36771b08e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36771b08e3_0_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5f95ec704a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5f95ec704a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5f95ec704a_0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5f95ec704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5f95ec704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5f95ec704a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5f95ec704a_0_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5f95ec704a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g35f95ec704a_0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5f95ec704a_0_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5f95ec704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g35f95ec704a_0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5f95ec704a_0_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5f95ec704a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5f95ec704a_0_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8550d72bd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8550d72b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68550d72bd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68550d72bd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68550d72b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68550d72bd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Титульний слайд">
  <p:cSld name="1_Титульний слайд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/>
          <p:nvPr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1B3A6E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descr="D:\КПИ\works\_ДНВР\Брендбук КПИ\Ресурс 39.png" id="17" name="Google Shape;17;p2"/>
          <p:cNvPicPr preferRelativeResize="0"/>
          <p:nvPr/>
        </p:nvPicPr>
        <p:blipFill rotWithShape="1">
          <a:blip r:embed="rId2">
            <a:alphaModFix/>
          </a:blip>
          <a:srcRect b="45813" l="37949" r="37950" t="0"/>
          <a:stretch/>
        </p:blipFill>
        <p:spPr>
          <a:xfrm>
            <a:off x="88900" y="88927"/>
            <a:ext cx="720000" cy="92091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" name="Google Shape;18;p2"/>
          <p:cNvGrpSpPr/>
          <p:nvPr/>
        </p:nvGrpSpPr>
        <p:grpSpPr>
          <a:xfrm>
            <a:off x="897800" y="278525"/>
            <a:ext cx="4555199" cy="522950"/>
            <a:chOff x="360000" y="2952000"/>
            <a:chExt cx="4555199" cy="522950"/>
          </a:xfrm>
        </p:grpSpPr>
        <p:pic>
          <p:nvPicPr>
            <p:cNvPr descr="D:\КПИ\works\_ДНВР\Брендбук КПИ\Ресурс 39.png" id="19" name="Google Shape;19;p2"/>
            <p:cNvPicPr preferRelativeResize="0"/>
            <p:nvPr/>
          </p:nvPicPr>
          <p:blipFill rotWithShape="1">
            <a:blip r:embed="rId2">
              <a:alphaModFix/>
            </a:blip>
            <a:srcRect b="36206" l="10860" r="0" t="54680"/>
            <a:stretch/>
          </p:blipFill>
          <p:spPr>
            <a:xfrm>
              <a:off x="360000" y="2952000"/>
              <a:ext cx="4039625" cy="2349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" name="Google Shape;20;p2"/>
            <p:cNvGrpSpPr/>
            <p:nvPr/>
          </p:nvGrpSpPr>
          <p:grpSpPr>
            <a:xfrm>
              <a:off x="360000" y="3240000"/>
              <a:ext cx="4555199" cy="234950"/>
              <a:chOff x="432000" y="3240000"/>
              <a:chExt cx="4555199" cy="234950"/>
            </a:xfrm>
          </p:grpSpPr>
          <p:pic>
            <p:nvPicPr>
              <p:cNvPr descr="D:\КПИ\works\_ДНВР\Брендбук КПИ\Ресурс 39.png" id="21" name="Google Shape;21;p2"/>
              <p:cNvPicPr preferRelativeResize="0"/>
              <p:nvPr/>
            </p:nvPicPr>
            <p:blipFill rotWithShape="1">
              <a:blip r:embed="rId2">
                <a:alphaModFix/>
              </a:blip>
              <a:srcRect b="26600" l="0" r="41176" t="64286"/>
              <a:stretch/>
            </p:blipFill>
            <p:spPr>
              <a:xfrm>
                <a:off x="432000" y="3240000"/>
                <a:ext cx="2665776" cy="2349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D:\КПИ\works\_ДНВР\Брендбук КПИ\Ресурс 39.png" id="22" name="Google Shape;22;p2"/>
              <p:cNvPicPr preferRelativeResize="0"/>
              <p:nvPr/>
            </p:nvPicPr>
            <p:blipFill rotWithShape="1">
              <a:blip r:embed="rId2">
                <a:alphaModFix/>
              </a:blip>
              <a:srcRect b="26600" l="58824" r="0" t="64286"/>
              <a:stretch/>
            </p:blipFill>
            <p:spPr>
              <a:xfrm>
                <a:off x="3121200" y="3240000"/>
                <a:ext cx="1865999" cy="23495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23" name="Google Shape;23;p2"/>
          <p:cNvSpPr txBox="1"/>
          <p:nvPr>
            <p:ph idx="1" type="body"/>
          </p:nvPr>
        </p:nvSpPr>
        <p:spPr>
          <a:xfrm>
            <a:off x="2002822" y="3571606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"/>
          <p:cNvSpPr txBox="1"/>
          <p:nvPr>
            <p:ph idx="2" type="body"/>
          </p:nvPr>
        </p:nvSpPr>
        <p:spPr>
          <a:xfrm>
            <a:off x="2002822" y="4062893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2"/>
          <p:cNvSpPr txBox="1"/>
          <p:nvPr>
            <p:ph idx="3" type="body"/>
          </p:nvPr>
        </p:nvSpPr>
        <p:spPr>
          <a:xfrm>
            <a:off x="1815180" y="2218628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4" type="body"/>
          </p:nvPr>
        </p:nvSpPr>
        <p:spPr>
          <a:xfrm>
            <a:off x="2002822" y="4680000"/>
            <a:ext cx="5138356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"/>
          <p:cNvSpPr txBox="1"/>
          <p:nvPr>
            <p:ph idx="5" type="body"/>
          </p:nvPr>
        </p:nvSpPr>
        <p:spPr>
          <a:xfrm>
            <a:off x="863392" y="1260000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1)">
  <p:cSld name="Слайд (варіант 1)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/>
          <p:nvPr/>
        </p:nvSpPr>
        <p:spPr>
          <a:xfrm>
            <a:off x="0" y="0"/>
            <a:ext cx="9144000" cy="706245"/>
          </a:xfrm>
          <a:prstGeom prst="rect">
            <a:avLst/>
          </a:prstGeom>
          <a:solidFill>
            <a:srgbClr val="1B3A6E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0" y="4611943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1" name="Google Shape;31;p3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3"/>
          <p:cNvSpPr txBox="1"/>
          <p:nvPr>
            <p:ph idx="2" type="body"/>
          </p:nvPr>
        </p:nvSpPr>
        <p:spPr>
          <a:xfrm>
            <a:off x="180000" y="900000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33" name="Google Shape;33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778" y="4676873"/>
            <a:ext cx="297696" cy="398253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3"/>
          <p:cNvSpPr txBox="1"/>
          <p:nvPr/>
        </p:nvSpPr>
        <p:spPr>
          <a:xfrm>
            <a:off x="672641" y="4714417"/>
            <a:ext cx="32138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i="0" lang="uk-UA" sz="800" u="none" cap="none" strike="noStrik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sz="8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ий слайд">
  <p:cSld name="Титульний слайд">
    <p:bg>
      <p:bgPr>
        <a:solidFill>
          <a:srgbClr val="1B3A6E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:\КПИ\works\_ДНВР\Брендбук КПИ\Ресурс 39.png" id="36" name="Google Shape;36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306113" y="1282727"/>
            <a:ext cx="4531775" cy="25780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Слайд (варіант 1)">
  <p:cSld name="1_Слайд (варіант 1)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/>
          <p:nvPr/>
        </p:nvSpPr>
        <p:spPr>
          <a:xfrm>
            <a:off x="0" y="4611943"/>
            <a:ext cx="9144000" cy="531557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39" name="Google Shape;39;p5"/>
          <p:cNvSpPr txBox="1"/>
          <p:nvPr>
            <p:ph idx="1" type="body"/>
          </p:nvPr>
        </p:nvSpPr>
        <p:spPr>
          <a:xfrm>
            <a:off x="328415" y="323254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05778" y="4676873"/>
            <a:ext cx="297696" cy="398253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5"/>
          <p:cNvSpPr txBox="1"/>
          <p:nvPr/>
        </p:nvSpPr>
        <p:spPr>
          <a:xfrm>
            <a:off x="672641" y="4714417"/>
            <a:ext cx="3213860" cy="3231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lang="uk-UA" sz="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lang="uk-UA" sz="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sz="8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2)">
  <p:cSld name="Слайд (варіант 2)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46" name="Google Shape;46;p6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921410" y="4818324"/>
            <a:ext cx="7288391" cy="2077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9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7476" y="4431571"/>
            <a:ext cx="483610" cy="646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0706" y="4479309"/>
            <a:ext cx="377149" cy="5514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3)">
  <p:cSld name="Слайд (варіант 3)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/>
          <p:nvPr/>
        </p:nvSpPr>
        <p:spPr>
          <a:xfrm>
            <a:off x="0" y="4755054"/>
            <a:ext cx="9144000" cy="388446"/>
          </a:xfrm>
          <a:prstGeom prst="rect">
            <a:avLst/>
          </a:prstGeom>
          <a:solidFill>
            <a:srgbClr val="1B3A6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54" name="Google Shape;54;p7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7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grpSp>
        <p:nvGrpSpPr>
          <p:cNvPr id="57" name="Google Shape;57;p7"/>
          <p:cNvGrpSpPr/>
          <p:nvPr/>
        </p:nvGrpSpPr>
        <p:grpSpPr>
          <a:xfrm>
            <a:off x="8211852" y="4425177"/>
            <a:ext cx="483610" cy="646966"/>
            <a:chOff x="8296291" y="4126103"/>
            <a:chExt cx="662832" cy="886727"/>
          </a:xfrm>
        </p:grpSpPr>
        <p:pic>
          <p:nvPicPr>
            <p:cNvPr id="58" name="Google Shape;58;p7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8296291" y="4126103"/>
              <a:ext cx="662832" cy="8867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369248" y="4191533"/>
              <a:ext cx="516917" cy="75586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0" name="Google Shape;60;p7"/>
          <p:cNvSpPr txBox="1"/>
          <p:nvPr/>
        </p:nvSpPr>
        <p:spPr>
          <a:xfrm>
            <a:off x="346529" y="4835698"/>
            <a:ext cx="7288391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 «Київський політехнічний інститут імені Ігоря Сікорського»</a:t>
            </a:r>
            <a:endParaRPr sz="9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4)">
  <p:cSld name="Слайд (варіант 4)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48542" y="4189155"/>
            <a:ext cx="615078" cy="822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87" y="4534779"/>
            <a:ext cx="296688" cy="43383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8"/>
          <p:cNvSpPr txBox="1"/>
          <p:nvPr/>
        </p:nvSpPr>
        <p:spPr>
          <a:xfrm>
            <a:off x="571075" y="4578573"/>
            <a:ext cx="3489177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Національний технічний університет України</a:t>
            </a:r>
            <a:b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</a:br>
            <a:r>
              <a:rPr b="1" lang="uk-UA" sz="9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rPr>
              <a:t>«Київський політехнічний інститут імені Ігоря Сікорського»</a:t>
            </a:r>
            <a:endParaRPr b="1" sz="900">
              <a:solidFill>
                <a:srgbClr val="1B3A6E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5)">
  <p:cSld name="Слайд (варіант 5)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  <a:defRPr b="1" sz="2400" cap="none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1B3A6E"/>
              </a:buClr>
              <a:buSzPts val="1800"/>
              <a:buNone/>
              <a:defRPr b="1" sz="1800">
                <a:solidFill>
                  <a:srgbClr val="1B3A6E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0" sz="14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69" name="Google Shape;6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99230" y="4341801"/>
            <a:ext cx="393100" cy="57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лайд (варіант 6)">
  <p:cSld name="Слайд (варіант 6)">
    <p:bg>
      <p:bgPr>
        <a:solidFill>
          <a:srgbClr val="1B3A6E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328415" y="323253"/>
            <a:ext cx="5513640" cy="706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 cap="none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2" type="body"/>
          </p:nvPr>
        </p:nvSpPr>
        <p:spPr>
          <a:xfrm>
            <a:off x="334824" y="1040328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3" type="body"/>
          </p:nvPr>
        </p:nvSpPr>
        <p:spPr>
          <a:xfrm>
            <a:off x="340162" y="1494332"/>
            <a:ext cx="7417217" cy="3118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b="0" sz="14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74" name="Google Shape;74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380048" y="4341801"/>
            <a:ext cx="429679" cy="5748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Exo 2"/>
              <a:buNone/>
              <a:defRPr b="0" i="0" sz="33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uk-U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2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1"/>
          <p:cNvSpPr txBox="1"/>
          <p:nvPr>
            <p:ph idx="1" type="body"/>
          </p:nvPr>
        </p:nvSpPr>
        <p:spPr>
          <a:xfrm>
            <a:off x="972000" y="3355024"/>
            <a:ext cx="72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виконав: студент групи ТВ-12 Машталєр Владислав Дмитрович</a:t>
            </a:r>
            <a:endParaRPr/>
          </a:p>
        </p:txBody>
      </p: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330396" y="3873514"/>
            <a:ext cx="8483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керівник: </a:t>
            </a:r>
            <a:r>
              <a:rPr lang="uk-UA" sz="1800">
                <a:highlight>
                  <a:srgbClr val="FFFFFF"/>
                </a:highlight>
                <a:latin typeface="Calibri"/>
                <a:ea typeface="Calibri"/>
                <a:cs typeface="Calibri"/>
                <a:sym typeface="Calibri"/>
              </a:rPr>
              <a:t>старший викладач кафедри інженерії програмного забезпечення в енергетиці </a:t>
            </a:r>
            <a:r>
              <a:rPr lang="uk-UA" sz="1800">
                <a:latin typeface="Calibri"/>
                <a:ea typeface="Calibri"/>
                <a:cs typeface="Calibri"/>
                <a:sym typeface="Calibri"/>
              </a:rPr>
              <a:t>Олєнєва Ксенія Миколаївна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1"/>
          <p:cNvSpPr txBox="1"/>
          <p:nvPr>
            <p:ph idx="3" type="body"/>
          </p:nvPr>
        </p:nvSpPr>
        <p:spPr>
          <a:xfrm>
            <a:off x="691550" y="2218625"/>
            <a:ext cx="7729500" cy="11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800"/>
              <a:buNone/>
            </a:pPr>
            <a:r>
              <a:rPr lang="uk-UA" sz="2800">
                <a:latin typeface="Calibri"/>
                <a:ea typeface="Calibri"/>
                <a:cs typeface="Calibri"/>
                <a:sym typeface="Calibri"/>
              </a:rPr>
              <a:t>Підсистема інтелектуального аналізу образів і розпізнавання об’єктів на земній поверхні</a:t>
            </a:r>
            <a:endParaRPr sz="2800"/>
          </a:p>
        </p:txBody>
      </p:sp>
      <p:sp>
        <p:nvSpPr>
          <p:cNvPr id="82" name="Google Shape;82;p11"/>
          <p:cNvSpPr txBox="1"/>
          <p:nvPr>
            <p:ph idx="4" type="body"/>
          </p:nvPr>
        </p:nvSpPr>
        <p:spPr>
          <a:xfrm>
            <a:off x="3942000" y="4752000"/>
            <a:ext cx="1260000" cy="2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uk-UA"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</p:txBody>
      </p:sp>
      <p:sp>
        <p:nvSpPr>
          <p:cNvPr id="83" name="Google Shape;83;p11"/>
          <p:cNvSpPr txBox="1"/>
          <p:nvPr>
            <p:ph idx="5" type="body"/>
          </p:nvPr>
        </p:nvSpPr>
        <p:spPr>
          <a:xfrm>
            <a:off x="522000" y="1152000"/>
            <a:ext cx="8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400"/>
              <a:buNone/>
            </a:pPr>
            <a:r>
              <a:rPr b="0" lang="uk-UA" sz="2400">
                <a:latin typeface="Calibri"/>
                <a:ea typeface="Calibri"/>
                <a:cs typeface="Calibri"/>
                <a:sym typeface="Calibri"/>
              </a:rPr>
              <a:t>Навчально-науковий інститут атомної та теплової енергетики</a:t>
            </a:r>
            <a:endParaRPr/>
          </a:p>
        </p:txBody>
      </p:sp>
      <p:sp>
        <p:nvSpPr>
          <p:cNvPr id="84" name="Google Shape;84;p11"/>
          <p:cNvSpPr txBox="1"/>
          <p:nvPr/>
        </p:nvSpPr>
        <p:spPr>
          <a:xfrm>
            <a:off x="522000" y="1548000"/>
            <a:ext cx="81000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B3A6E"/>
              </a:buClr>
              <a:buSzPts val="2200"/>
              <a:buFont typeface="Arial"/>
              <a:buNone/>
            </a:pPr>
            <a:r>
              <a:rPr b="0" i="0" lang="uk-UA" sz="2200" u="none" cap="none" strike="noStrike">
                <a:solidFill>
                  <a:srgbClr val="1B3A6E"/>
                </a:solidFill>
                <a:latin typeface="Calibri"/>
                <a:ea typeface="Calibri"/>
                <a:cs typeface="Calibri"/>
                <a:sym typeface="Calibri"/>
              </a:rPr>
              <a:t>Кафедра інженерії програмного забезпечення в енергетиці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Актуальність теми</a:t>
            </a:r>
            <a:endParaRPr/>
          </a:p>
        </p:txBody>
      </p:sp>
      <p:sp>
        <p:nvSpPr>
          <p:cNvPr id="90" name="Google Shape;90;p12"/>
          <p:cNvSpPr txBox="1"/>
          <p:nvPr>
            <p:ph idx="2" type="body"/>
          </p:nvPr>
        </p:nvSpPr>
        <p:spPr>
          <a:xfrm>
            <a:off x="179999" y="900000"/>
            <a:ext cx="8784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Опис проблеми, яку вирішує робота: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У сучасних умовах зростання напруги в сфері безпеки виникає потреба в ефективному, автоматизованому моніторингу територій з метою виявлення та класифікації повітряних суден на аеродромах.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Таким чином, виникає проблема створення інтегрованої інформаційної системи, здатної: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оперативно обробляти великі обсяги гетерогенних даних з різних джерел;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виконувати високоточну двоступеневу класифікацію кадрів;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забезпечувати достовірне розпізнавання типу повітряних суден (військові/цивільні) навіть за складних умов зйомки ландшафту аеродрома.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2"/>
          <p:cNvSpPr txBox="1"/>
          <p:nvPr/>
        </p:nvSpPr>
        <p:spPr>
          <a:xfrm>
            <a:off x="8614500" y="4788000"/>
            <a:ext cx="349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</a:t>
            </a:r>
            <a:endParaRPr sz="15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Актуальність теми</a:t>
            </a:r>
            <a:endParaRPr/>
          </a:p>
        </p:txBody>
      </p:sp>
      <p:sp>
        <p:nvSpPr>
          <p:cNvPr id="98" name="Google Shape;98;p13"/>
          <p:cNvSpPr txBox="1"/>
          <p:nvPr>
            <p:ph idx="2" type="body"/>
          </p:nvPr>
        </p:nvSpPr>
        <p:spPr>
          <a:xfrm>
            <a:off x="180000" y="900000"/>
            <a:ext cx="8835000" cy="3576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Значення теми для галузі інженерії програмного забезпечення: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Виконана дипломна робота сприяє розробці високопродуктивних, інтелектуальних систем обробки зображень у реальному часі. Дана </a:t>
            </a: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підсистема</a:t>
            </a: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демонструє застосування сучасних методів глибинного навчання, комп'ютерного зору та потокової обробки даних. Результати роботи можуть бути використані як основа для побудови аналогічних систем у сферах оборони, моніторингу та автономних систем спостереження.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8563125" y="4711500"/>
            <a:ext cx="5091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2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Актуальність теми</a:t>
            </a:r>
            <a:endParaRPr/>
          </a:p>
        </p:txBody>
      </p:sp>
      <p:sp>
        <p:nvSpPr>
          <p:cNvPr id="106" name="Google Shape;106;p14"/>
          <p:cNvSpPr txBox="1"/>
          <p:nvPr>
            <p:ph idx="2" type="body"/>
          </p:nvPr>
        </p:nvSpPr>
        <p:spPr>
          <a:xfrm>
            <a:off x="180000" y="900000"/>
            <a:ext cx="8784000" cy="3481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Мета роботи: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Метою дипломної роботи є створення інтегрованої інформаційної системи для інтелектуального аналізу супутникових зображень, яка здатна здійснювати двоступеневу обробку: спочатку бінарну класифікацію кадрів за наявністю або відсутністю повітряного судна на аеродромі, а потім детекцію й розпізнавання виявлених літаків із поділом на військові та цивільні.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537700" y="4712500"/>
            <a:ext cx="606300" cy="36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3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5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Постановка задачі</a:t>
            </a:r>
            <a:endParaRPr/>
          </a:p>
        </p:txBody>
      </p:sp>
      <p:sp>
        <p:nvSpPr>
          <p:cNvPr id="113" name="Google Shape;113;p15"/>
          <p:cNvSpPr txBox="1"/>
          <p:nvPr>
            <p:ph idx="2" type="body"/>
          </p:nvPr>
        </p:nvSpPr>
        <p:spPr>
          <a:xfrm>
            <a:off x="179999" y="900000"/>
            <a:ext cx="8784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Перелік задач для досягнення поставленої мети: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AutoNum type="arabicPeriod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Збір і інтеграція даних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Налагодити безперервний потік супутникових і аерофотознімків з різних джерел (з різною просторовою роздільною здатністю).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Забезпечити механізм витягу й обробки вхідних кадрів.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AutoNum type="arabicPeriod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Бі</a:t>
            </a: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нарна класифікація наявності літака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Навчити та оптимізувати модель здатну визначити наявність повітряного судна на аеродромі з точністю ≥ 85 %</a:t>
            </a: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2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8280000" y="4752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8502000" y="4683150"/>
            <a:ext cx="498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4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2" type="body"/>
          </p:nvPr>
        </p:nvSpPr>
        <p:spPr>
          <a:xfrm>
            <a:off x="180000" y="900000"/>
            <a:ext cx="8710500" cy="3471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AutoNum type="arabicPeriod" startAt="3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Локалізація й класифікація об’єктів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Підготувати та промаркувати датасет із зображеннями різних класів і підтипів літаків.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Натренувати глибоку модель для локалізації й розподілу об’єктів на “військові / цивільні” з точністю ≥ 85 %.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AutoNum type="arabicPeriod" startAt="3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Архітектура системи та інтеграція модулів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9144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Побудувати послідовний пайплайн: попередня обробка → бінарна фільтрація → детекція → класифікація.</a:t>
            </a:r>
            <a:endParaRPr sz="22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Постановка задачі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509375" y="4702900"/>
            <a:ext cx="530400" cy="3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5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Проблематика </a:t>
            </a: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предметної області</a:t>
            </a:r>
            <a:endParaRPr/>
          </a:p>
        </p:txBody>
      </p:sp>
      <p:sp>
        <p:nvSpPr>
          <p:cNvPr id="129" name="Google Shape;129;p17"/>
          <p:cNvSpPr txBox="1"/>
          <p:nvPr>
            <p:ph idx="2" type="body"/>
          </p:nvPr>
        </p:nvSpPr>
        <p:spPr>
          <a:xfrm>
            <a:off x="179999" y="899999"/>
            <a:ext cx="8784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Проблематика вхідних даних: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Великий обсяг і різноманіття</a:t>
            </a: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супутникові та аерофотознімки в різних спектрах із роздільною здатністю від десятків сантиметрів до метрів.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Спотворення: потребують корекції кадру, очищення і нормалізації освітленості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2060"/>
              </a:buClr>
              <a:buSzPts val="1800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Складні умови зйомки: дрібні об’єкти, хмари, антропогенний фон і різноманіття форм/забарвлень літаків ускладнюють навчання та узагальнення моделей</a:t>
            </a:r>
            <a:endParaRPr sz="25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8244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6</a:t>
            </a:r>
            <a:endParaRPr sz="15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Проблематика предметної області</a:t>
            </a:r>
            <a:endParaRPr/>
          </a:p>
        </p:txBody>
      </p:sp>
      <p:sp>
        <p:nvSpPr>
          <p:cNvPr id="137" name="Google Shape;137;p18"/>
          <p:cNvSpPr txBox="1"/>
          <p:nvPr>
            <p:ph idx="2" type="body"/>
          </p:nvPr>
        </p:nvSpPr>
        <p:spPr>
          <a:xfrm>
            <a:off x="180000" y="900000"/>
            <a:ext cx="8784000" cy="343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Ландшафт</a:t>
            </a: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України: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spcBef>
                <a:spcPts val="750"/>
              </a:spcBef>
              <a:spcAft>
                <a:spcPts val="0"/>
              </a:spcAft>
              <a:buClr>
                <a:srgbClr val="002060"/>
              </a:buClr>
              <a:buSzPts val="1800"/>
              <a:buFont typeface="Calibri"/>
              <a:buChar char="●"/>
            </a:pP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Обмеженість даних: </a:t>
            </a: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немає</a:t>
            </a:r>
            <a:r>
              <a:rPr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єдиної національної системи збору й обміну супутниковими знімками; доступ до високоякісних кадрів у відкритому доступі дуже обмежений.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8520550" y="4704050"/>
            <a:ext cx="623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7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Проектування системи</a:t>
            </a:r>
            <a:endParaRPr/>
          </a:p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180000" y="900000"/>
            <a:ext cx="8825400" cy="3643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Архітектура системи: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8604900" y="4723525"/>
            <a:ext cx="539100" cy="32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9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875" y="1263402"/>
            <a:ext cx="7619399" cy="31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0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Проектування</a:t>
            </a: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 системи</a:t>
            </a:r>
            <a:endParaRPr/>
          </a:p>
        </p:txBody>
      </p:sp>
      <p:sp>
        <p:nvSpPr>
          <p:cNvPr id="153" name="Google Shape;153;p20"/>
          <p:cNvSpPr txBox="1"/>
          <p:nvPr>
            <p:ph idx="2" type="body"/>
          </p:nvPr>
        </p:nvSpPr>
        <p:spPr>
          <a:xfrm>
            <a:off x="180000" y="777600"/>
            <a:ext cx="8784000" cy="36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Архітектура системи: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AutoNum type="arabicPeriod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Модуль імпорту супутникові та аерофотознімки з різних джерел.</a:t>
            </a:r>
            <a:b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AutoNum type="arabicPeriod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Блок попередньої обробки виконує корекцію геометрії, нормалізацію освітленості та усунення шумів.</a:t>
            </a:r>
            <a:b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AutoNum type="arabicPeriod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Готовий кадр передається у глибоку нейронну мережу на базі ResNet для бінарної класифікації «літак/не літак»</a:t>
            </a: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AutoNum type="arabicPeriod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Відфільтровані кадри з потенційними літаками надходять в алгоритм YOLO, який виконує детекцію об’єктів та формує bounding boxes навколо кожного судна.</a:t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AutoNum type="arabicPeriod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Кожен виявлений об’єкт проходить остаточну класифікацію «військовий/цивільний».</a:t>
            </a:r>
            <a:endParaRPr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0"/>
          <p:cNvSpPr txBox="1"/>
          <p:nvPr/>
        </p:nvSpPr>
        <p:spPr>
          <a:xfrm>
            <a:off x="8531350" y="4776300"/>
            <a:ext cx="5085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</a:t>
            </a:r>
            <a:r>
              <a:rPr lang="uk-UA"/>
              <a:t> </a:t>
            </a: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8</a:t>
            </a:r>
            <a:r>
              <a:rPr lang="uk-UA" sz="12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 </a:t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Тренування моделей</a:t>
            </a:r>
            <a:endParaRPr b="0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1"/>
          <p:cNvSpPr txBox="1"/>
          <p:nvPr>
            <p:ph idx="2" type="body"/>
          </p:nvPr>
        </p:nvSpPr>
        <p:spPr>
          <a:xfrm>
            <a:off x="180000" y="900000"/>
            <a:ext cx="7417200" cy="31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Приклад даних що використовувалися під час тренування моделей:</a:t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200" y="1212000"/>
            <a:ext cx="3160550" cy="310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1"/>
          <p:cNvSpPr txBox="1"/>
          <p:nvPr/>
        </p:nvSpPr>
        <p:spPr>
          <a:xfrm>
            <a:off x="8491500" y="4712875"/>
            <a:ext cx="652500" cy="3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10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2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Тренування</a:t>
            </a: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 моделей</a:t>
            </a:r>
            <a:endParaRPr b="0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2"/>
          <p:cNvSpPr txBox="1"/>
          <p:nvPr>
            <p:ph idx="2" type="body"/>
          </p:nvPr>
        </p:nvSpPr>
        <p:spPr>
          <a:xfrm>
            <a:off x="180000" y="900000"/>
            <a:ext cx="8869500" cy="3660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Метрики ResNet34: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/>
              <a:t>Nt</a:t>
            </a:r>
            <a:endParaRPr b="1"/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71" name="Google Shape;17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9988" y="1303000"/>
            <a:ext cx="6115676" cy="2537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/>
          <p:nvPr/>
        </p:nvSpPr>
        <p:spPr>
          <a:xfrm>
            <a:off x="8513400" y="4680250"/>
            <a:ext cx="6306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11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Тренування</a:t>
            </a: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 моделей</a:t>
            </a:r>
            <a:endParaRPr b="0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3"/>
          <p:cNvSpPr txBox="1"/>
          <p:nvPr>
            <p:ph idx="2" type="body"/>
          </p:nvPr>
        </p:nvSpPr>
        <p:spPr>
          <a:xfrm>
            <a:off x="180000" y="863400"/>
            <a:ext cx="8847900" cy="3577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Метрики </a:t>
            </a: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YOLOV8s: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118025"/>
            <a:ext cx="6265749" cy="3322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3"/>
          <p:cNvSpPr txBox="1"/>
          <p:nvPr/>
        </p:nvSpPr>
        <p:spPr>
          <a:xfrm>
            <a:off x="8578500" y="4692300"/>
            <a:ext cx="5655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12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Тестування</a:t>
            </a:r>
            <a:endParaRPr b="0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 txBox="1"/>
          <p:nvPr>
            <p:ph idx="2" type="body"/>
          </p:nvPr>
        </p:nvSpPr>
        <p:spPr>
          <a:xfrm>
            <a:off x="180000" y="900000"/>
            <a:ext cx="7417200" cy="31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Приклад даних що використовувалися під час тестування: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9" name="Google Shape;18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613" y="1212000"/>
            <a:ext cx="8277276" cy="2870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4"/>
          <p:cNvSpPr txBox="1"/>
          <p:nvPr/>
        </p:nvSpPr>
        <p:spPr>
          <a:xfrm>
            <a:off x="8545800" y="4682200"/>
            <a:ext cx="5982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13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5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Тестування</a:t>
            </a:r>
            <a:endParaRPr b="0" sz="2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5"/>
          <p:cNvSpPr txBox="1"/>
          <p:nvPr>
            <p:ph idx="2" type="body"/>
          </p:nvPr>
        </p:nvSpPr>
        <p:spPr>
          <a:xfrm>
            <a:off x="180000" y="900000"/>
            <a:ext cx="7417200" cy="31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Результат тестування: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Google Shape;19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4400"/>
            <a:ext cx="8839203" cy="2937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5"/>
          <p:cNvSpPr txBox="1"/>
          <p:nvPr/>
        </p:nvSpPr>
        <p:spPr>
          <a:xfrm>
            <a:off x="8500800" y="4691125"/>
            <a:ext cx="643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14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Реалізація системи</a:t>
            </a:r>
            <a:endParaRPr/>
          </a:p>
        </p:txBody>
      </p:sp>
      <p:sp>
        <p:nvSpPr>
          <p:cNvPr id="206" name="Google Shape;206;p26"/>
          <p:cNvSpPr txBox="1"/>
          <p:nvPr>
            <p:ph idx="2" type="body"/>
          </p:nvPr>
        </p:nvSpPr>
        <p:spPr>
          <a:xfrm>
            <a:off x="180000" y="813025"/>
            <a:ext cx="7417200" cy="31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Вибір моделі для класифікації образів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7" name="Google Shape;20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212000"/>
            <a:ext cx="6248826" cy="330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6"/>
          <p:cNvSpPr txBox="1"/>
          <p:nvPr/>
        </p:nvSpPr>
        <p:spPr>
          <a:xfrm>
            <a:off x="8391600" y="4697650"/>
            <a:ext cx="75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7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uk-UA" sz="2800">
                <a:latin typeface="Calibri"/>
                <a:ea typeface="Calibri"/>
                <a:cs typeface="Calibri"/>
                <a:sym typeface="Calibri"/>
              </a:rPr>
              <a:t>Реалізація системи</a:t>
            </a:r>
            <a:endParaRPr/>
          </a:p>
        </p:txBody>
      </p:sp>
      <p:sp>
        <p:nvSpPr>
          <p:cNvPr id="215" name="Google Shape;215;p27"/>
          <p:cNvSpPr txBox="1"/>
          <p:nvPr>
            <p:ph idx="2" type="body"/>
          </p:nvPr>
        </p:nvSpPr>
        <p:spPr>
          <a:xfrm>
            <a:off x="180000" y="900000"/>
            <a:ext cx="7417200" cy="312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Вибір моделі для локалізації та класифікації об’єктів на земній  поверхні</a:t>
            </a:r>
            <a:endParaRPr/>
          </a:p>
        </p:txBody>
      </p:sp>
      <p:pic>
        <p:nvPicPr>
          <p:cNvPr id="216" name="Google Shape;21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364400"/>
            <a:ext cx="8839200" cy="287756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7"/>
          <p:cNvSpPr txBox="1"/>
          <p:nvPr/>
        </p:nvSpPr>
        <p:spPr>
          <a:xfrm>
            <a:off x="8554800" y="4675900"/>
            <a:ext cx="589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16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8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Реалізація системи</a:t>
            </a:r>
            <a:endParaRPr/>
          </a:p>
        </p:txBody>
      </p:sp>
      <p:sp>
        <p:nvSpPr>
          <p:cNvPr id="223" name="Google Shape;223;p28"/>
          <p:cNvSpPr txBox="1"/>
          <p:nvPr>
            <p:ph idx="2" type="body"/>
          </p:nvPr>
        </p:nvSpPr>
        <p:spPr>
          <a:xfrm>
            <a:off x="180000" y="769550"/>
            <a:ext cx="8784000" cy="3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rPr b="1" lang="uk-UA" sz="18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Використані інструменти:</a:t>
            </a:r>
            <a:endParaRPr b="1"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Char char="●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В якості основної мови програмування використовується </a:t>
            </a:r>
            <a:r>
              <a:rPr b="1"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Python</a:t>
            </a: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який забезпечує єдину інфраструктуру для обробки даних, інтеграції модулів і реалізації алгоритмів.</a:t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Char char="●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Для розробки та навчання глибоких нейронних мереж застосовується </a:t>
            </a:r>
            <a:r>
              <a:rPr b="1"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що дозволяє будувати й оптимізувати моделі з високою гнучкістю.</a:t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Char char="●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Д</a:t>
            </a: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етекція</a:t>
            </a: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 об’єктів у реальному часі здійснює алгоритм YOLOV8s бібліотеки </a:t>
            </a:r>
            <a:r>
              <a:rPr b="1"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ultralitics</a:t>
            </a: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, що формує точні обмежувальні рамки навколо кожного судна.</a:t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Font typeface="Calibri"/>
              <a:buChar char="●"/>
            </a:pP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Для візуалізації результатів аналізу та побудови графіків використовується бібліотека </a:t>
            </a:r>
            <a:r>
              <a:rPr b="1"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matplotlib</a:t>
            </a:r>
            <a:r>
              <a:rPr lang="uk-UA" sz="1600">
                <a:solidFill>
                  <a:srgbClr val="00206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6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1600"/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8"/>
          <p:cNvSpPr txBox="1"/>
          <p:nvPr/>
        </p:nvSpPr>
        <p:spPr>
          <a:xfrm>
            <a:off x="8280000" y="4788000"/>
            <a:ext cx="720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sp>
        <p:nvSpPr>
          <p:cNvPr id="225" name="Google Shape;225;p28"/>
          <p:cNvSpPr txBox="1"/>
          <p:nvPr/>
        </p:nvSpPr>
        <p:spPr>
          <a:xfrm>
            <a:off x="8477225" y="4694250"/>
            <a:ext cx="6063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17</a:t>
            </a:r>
            <a:endParaRPr sz="13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  <p:pic>
        <p:nvPicPr>
          <p:cNvPr id="226" name="Google Shape;22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233200"/>
            <a:ext cx="432000" cy="4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9998" y="2064279"/>
            <a:ext cx="432000" cy="43202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3813" y="2895365"/>
            <a:ext cx="518175" cy="51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3821" y="3704750"/>
            <a:ext cx="518175" cy="51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180000" y="180000"/>
            <a:ext cx="87840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</a:pPr>
            <a:r>
              <a:rPr b="0" lang="uk-UA" sz="2800" cap="none">
                <a:latin typeface="Calibri"/>
                <a:ea typeface="Calibri"/>
                <a:cs typeface="Calibri"/>
                <a:sym typeface="Calibri"/>
              </a:rPr>
              <a:t>Висновки</a:t>
            </a:r>
            <a:endParaRPr/>
          </a:p>
        </p:txBody>
      </p:sp>
      <p:sp>
        <p:nvSpPr>
          <p:cNvPr id="235" name="Google Shape;235;p29"/>
          <p:cNvSpPr txBox="1"/>
          <p:nvPr>
            <p:ph idx="2" type="body"/>
          </p:nvPr>
        </p:nvSpPr>
        <p:spPr>
          <a:xfrm>
            <a:off x="179999" y="900000"/>
            <a:ext cx="8784000" cy="3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uk-UA" sz="1800">
                <a:solidFill>
                  <a:srgbClr val="002060"/>
                </a:solidFill>
              </a:rPr>
              <a:t>Розроблена інформаційна підсистема інтелектуального аналізу супутникових зображень виступає як спеціалізована підсистема в межах масштабних програм моніторингу та управління наземним простором. Підсистема забезпечує двоступеневу обробку кадрів: спочатку бінарну класифікацію «літак/не літак», а потім детекцію й розпізнавання з поділом на військові та цивільні судна. </a:t>
            </a:r>
            <a:r>
              <a:rPr lang="uk-UA" sz="1800">
                <a:solidFill>
                  <a:srgbClr val="002060"/>
                </a:solidFill>
              </a:rPr>
              <a:t>Результати роботи можуть бути використані як основа для побудови більш масштабних систем у сферах оборони, моніторингу та автономних систем спостереження.</a:t>
            </a:r>
            <a:endParaRPr sz="1800">
              <a:solidFill>
                <a:srgbClr val="00206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800">
              <a:solidFill>
                <a:srgbClr val="00206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9"/>
          <p:cNvSpPr txBox="1"/>
          <p:nvPr/>
        </p:nvSpPr>
        <p:spPr>
          <a:xfrm>
            <a:off x="8571000" y="4788000"/>
            <a:ext cx="393000" cy="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uk-UA" sz="1300">
                <a:solidFill>
                  <a:schemeClr val="lt1"/>
                </a:solidFill>
                <a:latin typeface="Exo 2"/>
                <a:ea typeface="Exo 2"/>
                <a:cs typeface="Exo 2"/>
                <a:sym typeface="Exo 2"/>
              </a:rPr>
              <a:t>№ 18</a:t>
            </a:r>
            <a:endParaRPr sz="1500"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Exo 2"/>
              <a:ea typeface="Exo 2"/>
              <a:cs typeface="Exo 2"/>
              <a:sym typeface="Exo 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Офіс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